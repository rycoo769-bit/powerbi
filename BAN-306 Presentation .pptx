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69" r:id="rId2"/>
    <p:sldId id="270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73" r:id="rId12"/>
    <p:sldId id="27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1D23E9-39B8-2512-48D0-E9F0F00908E5}" v="994" dt="2025-11-10T18:22:03.672"/>
    <p1510:client id="{3277E66B-49C0-D925-066E-DE5D9801202E}" v="663" dt="2025-11-09T22:42:25.450"/>
    <p1510:client id="{A73B0C6F-EC93-60C6-615D-24C5CAE3B33E}" v="9" dt="2025-11-10T19:01:16.7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slides/slide7.xml" Id="rId8" /><Relationship Type="http://schemas.openxmlformats.org/officeDocument/2006/relationships/slide" Target="slides/slide12.xml" Id="rId13" /><Relationship Type="http://schemas.openxmlformats.org/officeDocument/2006/relationships/tableStyles" Target="tableStyles.xml" Id="rId18" /><Relationship Type="http://schemas.openxmlformats.org/officeDocument/2006/relationships/slide" Target="slides/slide2.xml" Id="rId3" /><Relationship Type="http://schemas.openxmlformats.org/officeDocument/2006/relationships/slide" Target="slides/slide6.xml" Id="rId7" /><Relationship Type="http://schemas.openxmlformats.org/officeDocument/2006/relationships/slide" Target="slides/slide11.xml" Id="rId12" /><Relationship Type="http://schemas.openxmlformats.org/officeDocument/2006/relationships/theme" Target="theme/theme1.xml" Id="rId17" /><Relationship Type="http://schemas.openxmlformats.org/officeDocument/2006/relationships/slide" Target="slides/slide1.xml" Id="rId2" /><Relationship Type="http://schemas.openxmlformats.org/officeDocument/2006/relationships/viewProps" Target="viewProps.xml" Id="rId16" /><Relationship Type="http://schemas.microsoft.com/office/2015/10/relationships/revisionInfo" Target="revisionInfo.xml" Id="rId20" /><Relationship Type="http://schemas.openxmlformats.org/officeDocument/2006/relationships/slideMaster" Target="slideMasters/slideMaster1.xml" Id="rId1" /><Relationship Type="http://schemas.openxmlformats.org/officeDocument/2006/relationships/slide" Target="slides/slide5.xml" Id="rId6" /><Relationship Type="http://schemas.openxmlformats.org/officeDocument/2006/relationships/slide" Target="slides/slide10.xml" Id="rId11" /><Relationship Type="http://schemas.openxmlformats.org/officeDocument/2006/relationships/slide" Target="slides/slide4.xml" Id="rId5" /><Relationship Type="http://schemas.openxmlformats.org/officeDocument/2006/relationships/presProps" Target="presProps.xml" Id="rId15" /><Relationship Type="http://schemas.openxmlformats.org/officeDocument/2006/relationships/slide" Target="slides/slide9.xml" Id="rId10" /><Relationship Type="http://schemas.openxmlformats.org/officeDocument/2006/relationships/slide" Target="slides/slide3.xml" Id="rId4" /><Relationship Type="http://schemas.openxmlformats.org/officeDocument/2006/relationships/slide" Target="slides/slide8.xml" Id="rId9" /><Relationship Type="http://schemas.openxmlformats.org/officeDocument/2006/relationships/notesMaster" Target="notesMasters/notesMaster1.xml" Id="rId14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DAE62-A2DE-47E1-8495-0FCFA0F88CC4}" type="datetimeFigureOut">
              <a:t>11/10/2025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12E860-CA5C-4AC3-9212-A1D2999400A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594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At 7%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12E860-CA5C-4AC3-9212-A1D2999400A1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8290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At –7%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12E860-CA5C-4AC3-9212-A1D2999400A1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7929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8th total sold item in the company sale price wise at 757k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12E860-CA5C-4AC3-9212-A1D2999400A1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1317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Southeast Asia has the worst profit margin of all regions on table sales with the east and south at –0.28 and –0.26 respectfully.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12E860-CA5C-4AC3-9212-A1D2999400A1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5838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Tables average $92.75 just in shipping costs where as the next expensive are copiers at 71.75. Meaning shipping tables are 30% more expensive than copiers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12E860-CA5C-4AC3-9212-A1D2999400A1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3621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First class shipping has –2% profit margin, Second Class has 0%, Standard is 3% and Same Day is 9%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12E860-CA5C-4AC3-9212-A1D2999400A1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4976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15.62% of sales use First Class Shipping while 16.93 use Second Class meaning a combined 32% of sales in Southeast Asia Are unprofitable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12E860-CA5C-4AC3-9212-A1D2999400A1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7244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18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71B1AF5-54AF-20C9-0DBA-645B7A2999FD}"/>
              </a:ext>
            </a:extLst>
          </p:cNvPr>
          <p:cNvSpPr/>
          <p:nvPr/>
        </p:nvSpPr>
        <p:spPr>
          <a:xfrm>
            <a:off x="674288" y="521641"/>
            <a:ext cx="10843425" cy="290512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Aptos"/>
              </a:rPr>
              <a:t>The Silent Profit Margin Killer </a:t>
            </a:r>
            <a:endParaRPr lang="en-US" sz="4000" dirty="0">
              <a:solidFill>
                <a:srgbClr val="000000"/>
              </a:solidFill>
              <a:latin typeface="Aptos"/>
            </a:endParaRPr>
          </a:p>
          <a:p>
            <a:pPr algn="ctr"/>
            <a:endParaRPr lang="en-US" sz="2000" dirty="0">
              <a:solidFill>
                <a:srgbClr val="FFFFFF"/>
              </a:solidFill>
              <a:latin typeface="Aptos"/>
            </a:endParaRPr>
          </a:p>
          <a:p>
            <a:pPr algn="ctr"/>
            <a:endParaRPr lang="en-US" sz="2000" dirty="0">
              <a:solidFill>
                <a:srgbClr val="FFFFFF"/>
              </a:solidFill>
            </a:endParaRPr>
          </a:p>
          <a:p>
            <a:pPr algn="ctr"/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Ryan Cooley and Owen Nelson</a:t>
            </a:r>
          </a:p>
          <a:p>
            <a:pPr algn="ctr"/>
            <a:endParaRPr lang="en-US" dirty="0">
              <a:solidFill>
                <a:srgbClr val="000000"/>
              </a:solidFill>
            </a:endParaRPr>
          </a:p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5" name="Picture 4" descr="Global Superstore">
            <a:extLst>
              <a:ext uri="{FF2B5EF4-FFF2-40B4-BE49-F238E27FC236}">
                <a16:creationId xmlns:a16="http://schemas.microsoft.com/office/drawing/2014/main" id="{5EA87702-F2CC-35D3-0B42-4931EF426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5537" y="4075630"/>
            <a:ext cx="3746407" cy="189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41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67A2E-2711-4D97-B827-213F4B4F3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0949ACB-FDA5-8AAE-F5B0-60C6C5436F83}"/>
              </a:ext>
            </a:extLst>
          </p:cNvPr>
          <p:cNvSpPr/>
          <p:nvPr/>
        </p:nvSpPr>
        <p:spPr>
          <a:xfrm>
            <a:off x="0" y="850"/>
            <a:ext cx="12186518" cy="194577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4000" dirty="0">
                <a:solidFill>
                  <a:srgbClr val="FFFFFF"/>
                </a:solidFill>
              </a:rPr>
              <a:t>Goals Today</a:t>
            </a:r>
          </a:p>
        </p:txBody>
      </p:sp>
      <p:pic>
        <p:nvPicPr>
          <p:cNvPr id="2" name="Graphic 1" descr="Badge 1 with solid fill">
            <a:extLst>
              <a:ext uri="{FF2B5EF4-FFF2-40B4-BE49-F238E27FC236}">
                <a16:creationId xmlns:a16="http://schemas.microsoft.com/office/drawing/2014/main" id="{C38E5591-967B-99F0-7282-1D1162836C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009" y="2192079"/>
            <a:ext cx="914400" cy="914400"/>
          </a:xfrm>
          <a:prstGeom prst="rect">
            <a:avLst/>
          </a:prstGeom>
        </p:spPr>
      </p:pic>
      <p:pic>
        <p:nvPicPr>
          <p:cNvPr id="8" name="Graphic 7" descr="Badge with solid fill">
            <a:extLst>
              <a:ext uri="{FF2B5EF4-FFF2-40B4-BE49-F238E27FC236}">
                <a16:creationId xmlns:a16="http://schemas.microsoft.com/office/drawing/2014/main" id="{1F73A428-FCBF-E66E-ACAC-70DEAA92ED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009" y="3769242"/>
            <a:ext cx="914400" cy="914400"/>
          </a:xfrm>
          <a:prstGeom prst="rect">
            <a:avLst/>
          </a:prstGeom>
        </p:spPr>
      </p:pic>
      <p:pic>
        <p:nvPicPr>
          <p:cNvPr id="9" name="Graphic 8" descr="Badge 3 with solid fill">
            <a:extLst>
              <a:ext uri="{FF2B5EF4-FFF2-40B4-BE49-F238E27FC236}">
                <a16:creationId xmlns:a16="http://schemas.microsoft.com/office/drawing/2014/main" id="{1F02F36E-41C0-7715-BF88-529720B195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8009" y="5334591"/>
            <a:ext cx="914400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6B78992-88E5-BA00-7A53-6C083F04081E}"/>
              </a:ext>
            </a:extLst>
          </p:cNvPr>
          <p:cNvSpPr txBox="1"/>
          <p:nvPr/>
        </p:nvSpPr>
        <p:spPr>
          <a:xfrm>
            <a:off x="1311349" y="2280092"/>
            <a:ext cx="1049079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Why are we here?</a:t>
            </a:r>
          </a:p>
          <a:p>
            <a:r>
              <a:rPr lang="en-US" dirty="0"/>
              <a:t>Establish context within the Global Superstore dataset.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3AEF1C-FFA5-E6ED-A365-3B6F2281D298}"/>
              </a:ext>
            </a:extLst>
          </p:cNvPr>
          <p:cNvSpPr txBox="1"/>
          <p:nvPr/>
        </p:nvSpPr>
        <p:spPr>
          <a:xfrm>
            <a:off x="1311349" y="3857255"/>
            <a:ext cx="1049079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What have we found?</a:t>
            </a:r>
            <a:endParaRPr lang="en-US" dirty="0"/>
          </a:p>
          <a:p>
            <a:r>
              <a:rPr lang="en-US" dirty="0"/>
              <a:t>Examine insights and explain the meanings of those insights.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AF8A28-CCDD-ACC8-A93A-3C4028DE9536}"/>
              </a:ext>
            </a:extLst>
          </p:cNvPr>
          <p:cNvSpPr txBox="1"/>
          <p:nvPr/>
        </p:nvSpPr>
        <p:spPr>
          <a:xfrm>
            <a:off x="1311348" y="5422603"/>
            <a:ext cx="1049079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How will we solve it?</a:t>
            </a:r>
          </a:p>
          <a:p>
            <a:r>
              <a:rPr lang="en-US" dirty="0"/>
              <a:t>Drive the decision.</a:t>
            </a:r>
          </a:p>
        </p:txBody>
      </p:sp>
    </p:spTree>
    <p:extLst>
      <p:ext uri="{BB962C8B-B14F-4D97-AF65-F5344CB8AC3E}">
        <p14:creationId xmlns:p14="http://schemas.microsoft.com/office/powerpoint/2010/main" val="2199127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E1ACBF-C17E-AFE6-2877-E40F25104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Aptos"/>
              </a:rPr>
              <a:t>Overall </a:t>
            </a:r>
            <a:r>
              <a:rPr lang="en-US" sz="3200" kern="1200" dirty="0">
                <a:solidFill>
                  <a:schemeClr val="tx2">
                    <a:lumMod val="49000"/>
                    <a:lumOff val="51000"/>
                  </a:schemeClr>
                </a:solidFill>
                <a:latin typeface="Aptos"/>
              </a:rPr>
              <a:t>Profit Margin</a:t>
            </a:r>
            <a:r>
              <a:rPr lang="en-US" sz="3200" kern="1200" dirty="0">
                <a:solidFill>
                  <a:schemeClr val="bg1"/>
                </a:solidFill>
                <a:latin typeface="Aptos"/>
              </a:rPr>
              <a:t> </a:t>
            </a:r>
            <a:r>
              <a:rPr lang="en-US" sz="3200" kern="1200" dirty="0">
                <a:solidFill>
                  <a:schemeClr val="accent2"/>
                </a:solidFill>
                <a:latin typeface="Aptos"/>
              </a:rPr>
              <a:t>Declined </a:t>
            </a:r>
            <a:r>
              <a:rPr lang="en-US" sz="3200" kern="1200" dirty="0">
                <a:solidFill>
                  <a:schemeClr val="bg1"/>
                </a:solidFill>
                <a:latin typeface="Aptos"/>
              </a:rPr>
              <a:t>from 2013 - 2014</a:t>
            </a:r>
          </a:p>
        </p:txBody>
      </p:sp>
      <p:pic>
        <p:nvPicPr>
          <p:cNvPr id="10" name="Content Placeholder 9" descr="A line graph with numbers&#10;&#10;AI-generated content may be incorrect.">
            <a:extLst>
              <a:ext uri="{FF2B5EF4-FFF2-40B4-BE49-F238E27FC236}">
                <a16:creationId xmlns:a16="http://schemas.microsoft.com/office/drawing/2014/main" id="{E420E854-6853-DA75-8676-86098B551C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0528" y="1675227"/>
            <a:ext cx="9250943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913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chemeClr val="tx1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EF26B0-3E72-C668-E883-DF3928020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3600" kern="1200" dirty="0">
                <a:solidFill>
                  <a:srgbClr val="0070C0"/>
                </a:solidFill>
                <a:latin typeface="Aptos"/>
                <a:ea typeface="+mj-lt"/>
                <a:cs typeface="+mj-lt"/>
              </a:rPr>
              <a:t>Furniture</a:t>
            </a:r>
            <a:r>
              <a:rPr lang="en-US" sz="3600" kern="1200" dirty="0">
                <a:solidFill>
                  <a:srgbClr val="FFFFFF"/>
                </a:solidFill>
                <a:latin typeface="Aptos"/>
                <a:ea typeface="+mj-lt"/>
                <a:cs typeface="+mj-lt"/>
              </a:rPr>
              <a:t> </a:t>
            </a:r>
            <a:r>
              <a:rPr lang="en-US" sz="3600" dirty="0">
                <a:solidFill>
                  <a:srgbClr val="FFFFFF"/>
                </a:solidFill>
                <a:latin typeface="Aptos"/>
                <a:ea typeface="+mj-lt"/>
                <a:cs typeface="+mj-lt"/>
              </a:rPr>
              <a:t>has below-average </a:t>
            </a:r>
            <a:r>
              <a:rPr lang="en-US" sz="3600" kern="1200" dirty="0">
                <a:solidFill>
                  <a:srgbClr val="FFFFFF"/>
                </a:solidFill>
                <a:latin typeface="Aptos"/>
                <a:ea typeface="+mj-lt"/>
                <a:cs typeface="+mj-lt"/>
              </a:rPr>
              <a:t>profit margins</a:t>
            </a:r>
            <a:endParaRPr lang="en-US">
              <a:latin typeface="Aptos"/>
            </a:endParaRPr>
          </a:p>
        </p:txBody>
      </p:sp>
      <p:pic>
        <p:nvPicPr>
          <p:cNvPr id="9" name="Content Placeholder 8" descr="A graph of a bar chart&#10;&#10;AI-generated content may be incorrect.">
            <a:extLst>
              <a:ext uri="{FF2B5EF4-FFF2-40B4-BE49-F238E27FC236}">
                <a16:creationId xmlns:a16="http://schemas.microsoft.com/office/drawing/2014/main" id="{13250A08-896F-99E3-A37D-84C31BF75C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60" r="-251" b="249"/>
          <a:stretch>
            <a:fillRect/>
          </a:stretch>
        </p:blipFill>
        <p:spPr>
          <a:xfrm>
            <a:off x="5409656" y="643466"/>
            <a:ext cx="5516019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076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chemeClr val="tx1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444411-446D-BF37-2AE4-28D7B1B94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chemeClr val="accent2"/>
                </a:solidFill>
                <a:latin typeface="Aptos"/>
              </a:rPr>
              <a:t>Tables</a:t>
            </a:r>
            <a:r>
              <a:rPr lang="en-US" sz="3600" kern="1200" dirty="0">
                <a:solidFill>
                  <a:srgbClr val="FFFFFF"/>
                </a:solidFill>
                <a:latin typeface="Aptos"/>
              </a:rPr>
              <a:t> have negative profit margins</a:t>
            </a:r>
          </a:p>
        </p:txBody>
      </p:sp>
      <p:pic>
        <p:nvPicPr>
          <p:cNvPr id="4" name="Content Placeholder 3" descr="A graph of a bar chart&#10;&#10;AI-generated content may be incorrect.">
            <a:extLst>
              <a:ext uri="{FF2B5EF4-FFF2-40B4-BE49-F238E27FC236}">
                <a16:creationId xmlns:a16="http://schemas.microsoft.com/office/drawing/2014/main" id="{C076C2B8-FF82-D723-CD2D-63281F93EB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2906" y="643466"/>
            <a:ext cx="5429519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739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chemeClr val="tx1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FBE98E-B34D-9264-577E-763339CBD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Tables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US" sz="3600" dirty="0">
                <a:solidFill>
                  <a:srgbClr val="FFFFFF"/>
                </a:solidFill>
              </a:rPr>
              <a:t>Ranked 8th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in Total Sales</a:t>
            </a:r>
          </a:p>
        </p:txBody>
      </p:sp>
      <p:pic>
        <p:nvPicPr>
          <p:cNvPr id="4" name="Content Placeholder 3" descr="A circle with numbers and a blue number&#10;&#10;AI-generated content may be incorrect.">
            <a:extLst>
              <a:ext uri="{FF2B5EF4-FFF2-40B4-BE49-F238E27FC236}">
                <a16:creationId xmlns:a16="http://schemas.microsoft.com/office/drawing/2014/main" id="{E66202BA-82BA-574D-50DA-972B04F886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24756" t="9827" r="25081"/>
          <a:stretch>
            <a:fillRect/>
          </a:stretch>
        </p:blipFill>
        <p:spPr>
          <a:xfrm>
            <a:off x="6091490" y="962685"/>
            <a:ext cx="4362179" cy="4415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159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F8446B12-7391-4711-8B31-112A0B896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EA9DEB-6D7A-1005-7B9B-F5A1E3931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428000"/>
            <a:ext cx="6143626" cy="1400400"/>
          </a:xfrm>
        </p:spPr>
        <p:txBody>
          <a:bodyPr vert="horz" wrap="square" lIns="91440" tIns="45720" rIns="91440" bIns="45720" rtlCol="0" anchor="b">
            <a:normAutofit fontScale="90000"/>
          </a:bodyPr>
          <a:lstStyle/>
          <a:p>
            <a:r>
              <a:rPr lang="en-US" sz="3900" dirty="0">
                <a:solidFill>
                  <a:schemeClr val="bg1"/>
                </a:solidFill>
                <a:latin typeface="Aptos"/>
              </a:rPr>
              <a:t>Table sales in </a:t>
            </a:r>
            <a:r>
              <a:rPr lang="en-US" sz="3900" dirty="0">
                <a:solidFill>
                  <a:schemeClr val="accent2"/>
                </a:solidFill>
                <a:latin typeface="Aptos"/>
              </a:rPr>
              <a:t>Southeast Asia</a:t>
            </a:r>
            <a:r>
              <a:rPr lang="en-US" sz="3900" dirty="0">
                <a:solidFill>
                  <a:schemeClr val="bg1"/>
                </a:solidFill>
                <a:latin typeface="Aptos"/>
              </a:rPr>
              <a:t> generate the lowest profit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9642556-1DB3-245A-658F-1E9506A59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9713" y="4716472"/>
            <a:ext cx="3494088" cy="10178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With</a:t>
            </a:r>
            <a:r>
              <a:rPr lang="en-US" sz="2400" b="1" dirty="0">
                <a:solidFill>
                  <a:schemeClr val="accent2"/>
                </a:solidFill>
              </a:rPr>
              <a:t> – 35% </a:t>
            </a:r>
            <a:r>
              <a:rPr lang="en-US" sz="2400" dirty="0">
                <a:solidFill>
                  <a:schemeClr val="bg1"/>
                </a:solidFill>
              </a:rPr>
              <a:t>profit margin on each sale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6FDBD07-BD90-4523-087E-F356CDB026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061" b="15075"/>
          <a:stretch>
            <a:fillRect/>
          </a:stretch>
        </p:blipFill>
        <p:spPr>
          <a:xfrm>
            <a:off x="20" y="-1"/>
            <a:ext cx="12191980" cy="3984912"/>
          </a:xfrm>
          <a:custGeom>
            <a:avLst/>
            <a:gdLst/>
            <a:ahLst/>
            <a:cxnLst/>
            <a:rect l="l" t="t" r="r" b="b"/>
            <a:pathLst>
              <a:path w="12192000" h="3984912">
                <a:moveTo>
                  <a:pt x="0" y="0"/>
                </a:moveTo>
                <a:lnTo>
                  <a:pt x="12192000" y="0"/>
                </a:lnTo>
                <a:lnTo>
                  <a:pt x="12192000" y="566059"/>
                </a:lnTo>
                <a:lnTo>
                  <a:pt x="12192000" y="794037"/>
                </a:lnTo>
                <a:lnTo>
                  <a:pt x="12192000" y="2336800"/>
                </a:lnTo>
                <a:lnTo>
                  <a:pt x="12192000" y="2631227"/>
                </a:lnTo>
                <a:lnTo>
                  <a:pt x="12192000" y="3908712"/>
                </a:lnTo>
                <a:lnTo>
                  <a:pt x="9439275" y="3984912"/>
                </a:lnTo>
                <a:lnTo>
                  <a:pt x="5572127" y="3737262"/>
                </a:lnTo>
                <a:lnTo>
                  <a:pt x="0" y="3908712"/>
                </a:lnTo>
                <a:lnTo>
                  <a:pt x="0" y="2631227"/>
                </a:lnTo>
                <a:lnTo>
                  <a:pt x="0" y="2336800"/>
                </a:lnTo>
                <a:lnTo>
                  <a:pt x="0" y="794037"/>
                </a:lnTo>
                <a:lnTo>
                  <a:pt x="0" y="566059"/>
                </a:lnTo>
                <a:close/>
              </a:path>
            </a:pathLst>
          </a:cu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AC0B7807-0C83-4963-821A-69B172722E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528992"/>
            <a:ext cx="12192000" cy="757168"/>
            <a:chOff x="0" y="2959818"/>
            <a:chExt cx="12192000" cy="757168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B027EC7-3252-48A2-A7A4-1741F72E47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EBC51E4-7477-4290-BBD0-18AD942C3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4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45654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chemeClr val="tx1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934F65-BB3C-CA36-5112-81610206E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prstGeom prst="ellipse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500" kern="1200" dirty="0">
                <a:solidFill>
                  <a:schemeClr val="accent2"/>
                </a:solidFill>
                <a:latin typeface="Aptos"/>
              </a:rPr>
              <a:t>Tables</a:t>
            </a:r>
            <a:r>
              <a:rPr lang="en-US" sz="2500" kern="1200" dirty="0">
                <a:solidFill>
                  <a:srgbClr val="FFFFFF"/>
                </a:solidFill>
                <a:latin typeface="Aptos"/>
              </a:rPr>
              <a:t> have the highest shipping cost</a:t>
            </a:r>
          </a:p>
        </p:txBody>
      </p:sp>
      <p:pic>
        <p:nvPicPr>
          <p:cNvPr id="4" name="Content Placeholder 3" descr="A graph of a bar graph&#10;&#10;AI-generated content may be incorrect.">
            <a:extLst>
              <a:ext uri="{FF2B5EF4-FFF2-40B4-BE49-F238E27FC236}">
                <a16:creationId xmlns:a16="http://schemas.microsoft.com/office/drawing/2014/main" id="{CD18EADC-DB39-6726-D7E9-5FEE2512DA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2150" t="6646" b="3164"/>
          <a:stretch>
            <a:fillRect/>
          </a:stretch>
        </p:blipFill>
        <p:spPr>
          <a:xfrm>
            <a:off x="4777316" y="1912239"/>
            <a:ext cx="6780700" cy="3031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72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73AD41DB-DF9F-49BC-85AE-6AB1840A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16854C-CE44-A4BE-F765-51609249B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9978"/>
            <a:ext cx="9745344" cy="1173700"/>
          </a:xfrm>
        </p:spPr>
        <p:txBody>
          <a:bodyPr anchor="t"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Aptos"/>
                <a:ea typeface="+mj-lt"/>
                <a:cs typeface="+mj-lt"/>
              </a:rPr>
              <a:t>First-Class</a:t>
            </a:r>
            <a:r>
              <a:rPr lang="en-US" sz="3600" dirty="0">
                <a:solidFill>
                  <a:schemeClr val="bg1"/>
                </a:solidFill>
                <a:latin typeface="Aptos"/>
                <a:ea typeface="+mj-lt"/>
                <a:cs typeface="+mj-lt"/>
              </a:rPr>
              <a:t> Shipping Causes Losses; </a:t>
            </a:r>
            <a:r>
              <a:rPr lang="en-US" sz="3600" dirty="0">
                <a:solidFill>
                  <a:srgbClr val="FFFF00"/>
                </a:solidFill>
                <a:latin typeface="Aptos"/>
                <a:ea typeface="+mj-lt"/>
                <a:cs typeface="+mj-lt"/>
              </a:rPr>
              <a:t>Second-Class </a:t>
            </a:r>
            <a:r>
              <a:rPr lang="en-US" sz="3600" dirty="0">
                <a:solidFill>
                  <a:schemeClr val="bg1"/>
                </a:solidFill>
                <a:latin typeface="Aptos"/>
                <a:ea typeface="+mj-lt"/>
                <a:cs typeface="+mj-lt"/>
              </a:rPr>
              <a:t>Breaks Even</a:t>
            </a:r>
            <a:endParaRPr lang="en-US" sz="3600">
              <a:solidFill>
                <a:schemeClr val="bg1"/>
              </a:solidFill>
              <a:latin typeface="Aptos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BEB8F25-04F2-2D51-4925-E827488AB5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002" b="14134"/>
          <a:stretch>
            <a:fillRect/>
          </a:stretch>
        </p:blipFill>
        <p:spPr>
          <a:xfrm>
            <a:off x="20" y="-1"/>
            <a:ext cx="12191980" cy="3984912"/>
          </a:xfrm>
          <a:custGeom>
            <a:avLst/>
            <a:gdLst/>
            <a:ahLst/>
            <a:cxnLst/>
            <a:rect l="l" t="t" r="r" b="b"/>
            <a:pathLst>
              <a:path w="12192000" h="3984912">
                <a:moveTo>
                  <a:pt x="0" y="0"/>
                </a:moveTo>
                <a:lnTo>
                  <a:pt x="12192000" y="0"/>
                </a:lnTo>
                <a:lnTo>
                  <a:pt x="12192000" y="566059"/>
                </a:lnTo>
                <a:lnTo>
                  <a:pt x="12192000" y="794037"/>
                </a:lnTo>
                <a:lnTo>
                  <a:pt x="12192000" y="2336800"/>
                </a:lnTo>
                <a:lnTo>
                  <a:pt x="12192000" y="2631227"/>
                </a:lnTo>
                <a:lnTo>
                  <a:pt x="12192000" y="3908712"/>
                </a:lnTo>
                <a:lnTo>
                  <a:pt x="9439275" y="3984912"/>
                </a:lnTo>
                <a:lnTo>
                  <a:pt x="5572127" y="3737262"/>
                </a:lnTo>
                <a:lnTo>
                  <a:pt x="0" y="3908712"/>
                </a:lnTo>
                <a:lnTo>
                  <a:pt x="0" y="2631227"/>
                </a:lnTo>
                <a:lnTo>
                  <a:pt x="0" y="2336800"/>
                </a:lnTo>
                <a:lnTo>
                  <a:pt x="0" y="794037"/>
                </a:lnTo>
                <a:lnTo>
                  <a:pt x="0" y="566059"/>
                </a:lnTo>
                <a:close/>
              </a:path>
            </a:pathLst>
          </a:cu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A4AE1828-51FD-4AD7-BCF6-9AF5C696C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528992"/>
            <a:ext cx="12192000" cy="757168"/>
            <a:chOff x="0" y="2959818"/>
            <a:chExt cx="12192000" cy="757168"/>
          </a:xfrm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8542C7CD-02BE-4ADE-8D2F-DFB759D71A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840A04EE-8E37-4C28-B09B-A9593A4AAB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4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40317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chemeClr val="tx1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05796D-69E4-C508-B546-5C1E5F96C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3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1/3 of all Southeast Asia </a:t>
            </a:r>
            <a:r>
              <a:rPr lang="en-US" sz="3300" dirty="0">
                <a:solidFill>
                  <a:srgbClr val="FFFFFF"/>
                </a:solidFill>
              </a:rPr>
              <a:t>sales</a:t>
            </a:r>
            <a:r>
              <a:rPr lang="en-US" sz="33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are </a:t>
            </a:r>
            <a:r>
              <a:rPr lang="en-US" sz="33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unprofitable</a:t>
            </a:r>
          </a:p>
        </p:txBody>
      </p:sp>
      <p:pic>
        <p:nvPicPr>
          <p:cNvPr id="4" name="Content Placeholder 3" descr="A circle with numbers and a circle&#10;&#10;AI-generated content may be incorrect.">
            <a:extLst>
              <a:ext uri="{FF2B5EF4-FFF2-40B4-BE49-F238E27FC236}">
                <a16:creationId xmlns:a16="http://schemas.microsoft.com/office/drawing/2014/main" id="{1C89896C-3D4F-25BE-0534-8B072D7A1B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25424" r="25424" b="474"/>
          <a:stretch>
            <a:fillRect/>
          </a:stretch>
        </p:blipFill>
        <p:spPr>
          <a:xfrm>
            <a:off x="5077572" y="643466"/>
            <a:ext cx="6180187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516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3EBA3-1B8B-10AE-D413-14305DD0A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BF8C04-4782-8E7A-383E-0005E7DA4CC0}"/>
              </a:ext>
            </a:extLst>
          </p:cNvPr>
          <p:cNvSpPr/>
          <p:nvPr/>
        </p:nvSpPr>
        <p:spPr>
          <a:xfrm>
            <a:off x="0" y="850"/>
            <a:ext cx="12186518" cy="194577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4000" dirty="0">
                <a:solidFill>
                  <a:srgbClr val="FFFFFF"/>
                </a:solidFill>
              </a:rPr>
              <a:t>Solution?</a:t>
            </a:r>
          </a:p>
        </p:txBody>
      </p:sp>
      <p:pic>
        <p:nvPicPr>
          <p:cNvPr id="2" name="Graphic 1" descr="Badge 1 with solid fill">
            <a:extLst>
              <a:ext uri="{FF2B5EF4-FFF2-40B4-BE49-F238E27FC236}">
                <a16:creationId xmlns:a16="http://schemas.microsoft.com/office/drawing/2014/main" id="{FE13B084-B490-B5B1-193C-30A74145C0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009" y="2192079"/>
            <a:ext cx="914400" cy="914400"/>
          </a:xfrm>
          <a:prstGeom prst="rect">
            <a:avLst/>
          </a:prstGeom>
        </p:spPr>
      </p:pic>
      <p:pic>
        <p:nvPicPr>
          <p:cNvPr id="8" name="Graphic 7" descr="Badge with solid fill">
            <a:extLst>
              <a:ext uri="{FF2B5EF4-FFF2-40B4-BE49-F238E27FC236}">
                <a16:creationId xmlns:a16="http://schemas.microsoft.com/office/drawing/2014/main" id="{486038D5-28E6-8E23-DC39-DB26913B71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009" y="3261242"/>
            <a:ext cx="914400" cy="914400"/>
          </a:xfrm>
          <a:prstGeom prst="rect">
            <a:avLst/>
          </a:prstGeom>
        </p:spPr>
      </p:pic>
      <p:pic>
        <p:nvPicPr>
          <p:cNvPr id="9" name="Graphic 8" descr="Badge 3 with solid fill">
            <a:extLst>
              <a:ext uri="{FF2B5EF4-FFF2-40B4-BE49-F238E27FC236}">
                <a16:creationId xmlns:a16="http://schemas.microsoft.com/office/drawing/2014/main" id="{0869204F-5F87-D94B-81FF-ED0374482B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8009" y="4336312"/>
            <a:ext cx="914400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2E573E-CDC2-C512-96BB-F72CC86A653C}"/>
              </a:ext>
            </a:extLst>
          </p:cNvPr>
          <p:cNvSpPr txBox="1"/>
          <p:nvPr/>
        </p:nvSpPr>
        <p:spPr>
          <a:xfrm>
            <a:off x="1311349" y="2327348"/>
            <a:ext cx="1049079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Charge a premium?</a:t>
            </a:r>
          </a:p>
          <a:p>
            <a:r>
              <a:rPr lang="en-US" dirty="0"/>
              <a:t>Apply premium to First-Class and Second-Class to ensure profit.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64690F-6B35-8B0A-4522-7176BD74DD7A}"/>
              </a:ext>
            </a:extLst>
          </p:cNvPr>
          <p:cNvSpPr txBox="1"/>
          <p:nvPr/>
        </p:nvSpPr>
        <p:spPr>
          <a:xfrm>
            <a:off x="1311349" y="3396511"/>
            <a:ext cx="1049079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Cut program?</a:t>
            </a:r>
            <a:endParaRPr lang="en-US" dirty="0"/>
          </a:p>
          <a:p>
            <a:r>
              <a:rPr lang="en-US" dirty="0"/>
              <a:t>No longer offer First-Class and Second-Class Shipping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F472AC-3652-FDC4-49F9-D3FC6F83D989}"/>
              </a:ext>
            </a:extLst>
          </p:cNvPr>
          <p:cNvSpPr txBox="1"/>
          <p:nvPr/>
        </p:nvSpPr>
        <p:spPr>
          <a:xfrm>
            <a:off x="1311348" y="4471580"/>
            <a:ext cx="1049079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Conduct further analysis?</a:t>
            </a:r>
            <a:endParaRPr lang="en-US" dirty="0"/>
          </a:p>
          <a:p>
            <a:r>
              <a:rPr lang="en-US" dirty="0"/>
              <a:t>Spend more time and resources towards finding a different solution.</a:t>
            </a:r>
          </a:p>
        </p:txBody>
      </p:sp>
      <p:pic>
        <p:nvPicPr>
          <p:cNvPr id="3" name="Graphic 2" descr="Badge 4 with solid fill">
            <a:extLst>
              <a:ext uri="{FF2B5EF4-FFF2-40B4-BE49-F238E27FC236}">
                <a16:creationId xmlns:a16="http://schemas.microsoft.com/office/drawing/2014/main" id="{5C27F54B-EB0E-4F21-4F69-6F9B017970A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8009" y="5405474"/>
            <a:ext cx="914400" cy="914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ECB737-C785-A1F4-3033-D5195A2DA57B}"/>
              </a:ext>
            </a:extLst>
          </p:cNvPr>
          <p:cNvSpPr txBox="1"/>
          <p:nvPr/>
        </p:nvSpPr>
        <p:spPr>
          <a:xfrm>
            <a:off x="1311348" y="5540742"/>
            <a:ext cx="1049079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Do nothing?</a:t>
            </a:r>
          </a:p>
          <a:p>
            <a:r>
              <a:rPr lang="en-US" dirty="0"/>
              <a:t>Continue business as is and watch profits decrease.</a:t>
            </a:r>
          </a:p>
        </p:txBody>
      </p:sp>
    </p:spTree>
    <p:extLst>
      <p:ext uri="{BB962C8B-B14F-4D97-AF65-F5344CB8AC3E}">
        <p14:creationId xmlns:p14="http://schemas.microsoft.com/office/powerpoint/2010/main" val="2867660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A1949-48F1-E8DA-D928-5921355D2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CE36A76-4881-6A65-594C-2C02F9A4EDA1}"/>
              </a:ext>
            </a:extLst>
          </p:cNvPr>
          <p:cNvSpPr/>
          <p:nvPr/>
        </p:nvSpPr>
        <p:spPr>
          <a:xfrm>
            <a:off x="674288" y="521641"/>
            <a:ext cx="10843425" cy="290512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Questions?</a:t>
            </a:r>
          </a:p>
        </p:txBody>
      </p:sp>
      <p:pic>
        <p:nvPicPr>
          <p:cNvPr id="5" name="Picture 4" descr="Global Superstore">
            <a:extLst>
              <a:ext uri="{FF2B5EF4-FFF2-40B4-BE49-F238E27FC236}">
                <a16:creationId xmlns:a16="http://schemas.microsoft.com/office/drawing/2014/main" id="{49411829-BFAC-5A64-8694-36B26DF50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5537" y="4075630"/>
            <a:ext cx="3746407" cy="189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529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12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Overall Profit Margin Declined from 2013 - 2014</vt:lpstr>
      <vt:lpstr>Furniture has below-average profit margins</vt:lpstr>
      <vt:lpstr>Tables have negative profit margins</vt:lpstr>
      <vt:lpstr>Tables: Ranked 8th in Total Sales</vt:lpstr>
      <vt:lpstr>Table sales in Southeast Asia generate the lowest profit</vt:lpstr>
      <vt:lpstr>Tables have the highest shipping cost</vt:lpstr>
      <vt:lpstr>First-Class Shipping Causes Losses; Second-Class Breaks Even</vt:lpstr>
      <vt:lpstr>1/3 of all Southeast Asia sales are unprofitable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465</cp:revision>
  <dcterms:created xsi:type="dcterms:W3CDTF">2025-11-05T19:55:39Z</dcterms:created>
  <dcterms:modified xsi:type="dcterms:W3CDTF">2025-11-10T19:02:43Z</dcterms:modified>
</cp:coreProperties>
</file>